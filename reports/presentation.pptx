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1" r:id="rId1"/>
  </p:sldMasterIdLst>
  <p:notesMasterIdLst>
    <p:notesMasterId r:id="rId16"/>
  </p:notesMasterIdLst>
  <p:sldIdLst>
    <p:sldId id="261" r:id="rId2"/>
    <p:sldId id="259" r:id="rId3"/>
    <p:sldId id="262" r:id="rId4"/>
    <p:sldId id="263" r:id="rId5"/>
    <p:sldId id="272" r:id="rId6"/>
    <p:sldId id="264" r:id="rId7"/>
    <p:sldId id="277" r:id="rId8"/>
    <p:sldId id="273" r:id="rId9"/>
    <p:sldId id="274" r:id="rId10"/>
    <p:sldId id="267" r:id="rId11"/>
    <p:sldId id="265" r:id="rId12"/>
    <p:sldId id="270" r:id="rId13"/>
    <p:sldId id="260" r:id="rId14"/>
    <p:sldId id="275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401" autoAdjust="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336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48936A-1FEB-4E74-9FF2-1F6C6E12595F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4E9FF6-7FCC-4BA7-BC10-9F40C2FA55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067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/>
              <a:t>هذا </a:t>
            </a:r>
            <a:r>
              <a:rPr lang="ar-SA" dirty="0" err="1"/>
              <a:t>البروجكت</a:t>
            </a:r>
            <a:r>
              <a:rPr lang="ar-SA" dirty="0"/>
              <a:t> يركز على تصنيف النص اذا كان كتبه انسان أم ذكاء اصطناعي و يتعامل مع نص عربي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4E9FF6-7FCC-4BA7-BC10-9F40C2FA553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2751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/>
              <a:t>هنا وصف الداتا و تحتوي على نوعين من النص نص بواسطة الانسان و نص تم إنشائه بواسطة الذكاء الاصطناعي</a:t>
            </a:r>
          </a:p>
          <a:p>
            <a:r>
              <a:rPr lang="ar-SA" dirty="0"/>
              <a:t>و يحتمى عدد الداتا على 41 الف و 940</a:t>
            </a:r>
          </a:p>
          <a:p>
            <a:r>
              <a:rPr lang="ar-SA" dirty="0"/>
              <a:t>و هذه هي </a:t>
            </a:r>
            <a:r>
              <a:rPr lang="ar-SA" dirty="0" err="1"/>
              <a:t>الفيتتشر</a:t>
            </a:r>
            <a:r>
              <a:rPr lang="ar-SA" dirty="0"/>
              <a:t> الموجودة بالداتا (نذكرها)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4E9FF6-7FCC-4BA7-BC10-9F40C2FA553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6896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/>
              <a:t>حسبنا فيتشر 3  وهي نسبة الأرقام إلى الأحرف</a:t>
            </a:r>
            <a:br>
              <a:rPr lang="ar-SA" dirty="0"/>
            </a:br>
            <a:r>
              <a:rPr lang="ar-SA" dirty="0"/>
              <a:t>حسبنا فيتشر 26 و هي عدد ال, في النص</a:t>
            </a:r>
          </a:p>
          <a:p>
            <a:r>
              <a:rPr lang="ar-SA" dirty="0"/>
              <a:t>حسبنا فيتشر 49 و هي عدد حرف الجر في اللغة العربية الموجودة ف الكلمات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4E9FF6-7FCC-4BA7-BC10-9F40C2FA553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167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/>
              <a:t>حسبنا فيتشر 72 و ترمز الى المخاطب الثالث مثل ضمير الغائب باللغة العربية</a:t>
            </a:r>
          </a:p>
          <a:p>
            <a:r>
              <a:rPr lang="ar-SA" dirty="0"/>
              <a:t>تشير ضمائر الغائب إلى الإشارات إلى كيانات أو مواضيع خارجية. ويمكن أن يوفر تكرارها معلومات حول وجهة نظر السرد أو استهداف المشاعر.</a:t>
            </a:r>
            <a:br>
              <a:rPr lang="ar-SA" dirty="0"/>
            </a:br>
            <a:r>
              <a:rPr lang="ar-SA" dirty="0"/>
              <a:t>______</a:t>
            </a:r>
            <a:br>
              <a:rPr lang="ar-SA" dirty="0"/>
            </a:br>
            <a:r>
              <a:rPr lang="ar-SA" dirty="0"/>
              <a:t>الميزة 95: </a:t>
            </a:r>
            <a:r>
              <a:rPr lang="ar-SA" dirty="0" err="1"/>
              <a:t>تقيستكرار</a:t>
            </a:r>
            <a:r>
              <a:rPr lang="ar-SA" dirty="0"/>
              <a:t> المشاعر الإيجابية والسلبية في الجملة، وذلك باستخدام مجموعات محددة مسبقًا من الكلمات الإيجابية والسلبية.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4E9FF6-7FCC-4BA7-BC10-9F40C2FA553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9590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/>
              <a:t>هذه </a:t>
            </a:r>
            <a:r>
              <a:rPr lang="ar-SA" dirty="0" err="1"/>
              <a:t>خوازميات</a:t>
            </a:r>
            <a:r>
              <a:rPr lang="ar-SA" dirty="0"/>
              <a:t> التعلم الآلي مع نتائج </a:t>
            </a:r>
            <a:r>
              <a:rPr lang="ar-SA" dirty="0" err="1"/>
              <a:t>الفاليدشن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4E9FF6-7FCC-4BA7-BC10-9F40C2FA553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1706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0CDAFB-B837-DC18-3161-CC2480DAE4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8CC9B2-72DA-8E4E-AF26-F0B323C87F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760565-A8BA-E039-1972-BC4E6150CC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/>
              <a:t>هذه </a:t>
            </a:r>
            <a:r>
              <a:rPr lang="ar-SA" dirty="0" err="1"/>
              <a:t>خوازميات</a:t>
            </a:r>
            <a:r>
              <a:rPr lang="ar-SA" dirty="0"/>
              <a:t> التعلم الآلي مع نتائج </a:t>
            </a:r>
            <a:r>
              <a:rPr lang="ar-SA" dirty="0" err="1"/>
              <a:t>الفاليدشن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FD0772-AB00-23E9-D7AE-CF9EAAEC2B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4E9FF6-7FCC-4BA7-BC10-9F40C2FA553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4031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/>
              <a:t>هنا التعلم العميق و بناء الشبكة العصبية </a:t>
            </a:r>
          </a:p>
          <a:p>
            <a:r>
              <a:rPr lang="ar-SA" dirty="0"/>
              <a:t>و كان ال</a:t>
            </a:r>
            <a:r>
              <a:rPr lang="en-US" b="1" dirty="0"/>
              <a:t>Optimizer  </a:t>
            </a:r>
            <a:r>
              <a:rPr lang="en-US" dirty="0"/>
              <a:t>Adam</a:t>
            </a:r>
            <a:endParaRPr lang="ar-SA" dirty="0"/>
          </a:p>
          <a:p>
            <a:r>
              <a:rPr lang="ar-SA" dirty="0"/>
              <a:t>و عدد ال</a:t>
            </a:r>
            <a:r>
              <a:rPr lang="en-US" b="1" dirty="0"/>
              <a:t>Epochs</a:t>
            </a:r>
            <a:r>
              <a:rPr lang="ar-SA" b="1" dirty="0"/>
              <a:t> كانت  10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4E9FF6-7FCC-4BA7-BC10-9F40C2FA553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97280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/>
              <a:t>هما نتائج </a:t>
            </a:r>
            <a:r>
              <a:rPr lang="ar-SA" dirty="0" err="1"/>
              <a:t>التلعم</a:t>
            </a:r>
            <a:r>
              <a:rPr lang="ar-SA" dirty="0"/>
              <a:t> العميق </a:t>
            </a:r>
          </a:p>
          <a:p>
            <a:r>
              <a:rPr lang="ar-SA" dirty="0"/>
              <a:t>نركز على مقياس  </a:t>
            </a:r>
            <a:r>
              <a:rPr lang="en-US" b="1" dirty="0"/>
              <a:t>F1-score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4E9FF6-7FCC-4BA7-BC10-9F40C2FA553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6375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/>
              <a:t>هنا الاستنتاج</a:t>
            </a:r>
          </a:p>
          <a:p>
            <a:r>
              <a:rPr lang="ar-SA" dirty="0"/>
              <a:t>كانت اعلى خوارزمية هي </a:t>
            </a:r>
            <a:r>
              <a:rPr lang="ar-SA" dirty="0" err="1"/>
              <a:t>راندوم</a:t>
            </a:r>
            <a:r>
              <a:rPr lang="ar-SA" dirty="0"/>
              <a:t> فورست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4E9FF6-7FCC-4BA7-BC10-9F40C2FA553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7036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/>
              <a:t>هنا الملخص لكل ما سبق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4E9FF6-7FCC-4BA7-BC10-9F40C2FA553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7322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8080" y="1828800"/>
            <a:ext cx="990599" cy="2286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08" y="3264408"/>
            <a:ext cx="3859795" cy="228660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8345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2740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5754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200"/>
            <a:ext cx="3636980" cy="3530603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1" y="2489203"/>
            <a:ext cx="3636980" cy="3530600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057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0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663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5835"/>
            <a:ext cx="3636980" cy="277396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1429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44249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23481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7800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1" y="3086845"/>
            <a:ext cx="2712589" cy="2933701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9609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086100"/>
            <a:ext cx="2987089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1181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Rectangle 1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5528192"/>
            <a:ext cx="6422004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13728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1350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0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3" name="TextBox 22"/>
          <p:cNvSpPr txBox="1"/>
          <p:nvPr/>
        </p:nvSpPr>
        <p:spPr bwMode="gray">
          <a:xfrm>
            <a:off x="647430" y="651690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7069418" y="2900292"/>
            <a:ext cx="619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8" y="3809278"/>
            <a:ext cx="5646143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6"/>
            <a:ext cx="6343673" cy="101061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9827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3779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4"/>
            <a:ext cx="2313432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5614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4"/>
            <a:ext cx="2318918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0935" y="3147164"/>
            <a:ext cx="2316625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0223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37558"/>
            <a:ext cx="231343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11125" y="4179595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11125" y="484820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4179596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58642" y="483755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4103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1301" y="6387910"/>
            <a:ext cx="990599" cy="22865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6133" y="6387910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008096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sp>
        <p:nvSpPr>
          <p:cNvPr id="17" name="Rectangle 16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 bwMode="gray"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0" t="0" r="r" b="b"/>
            <a:pathLst>
              <a:path w="4960" h="2752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8" name="Freeform 5"/>
          <p:cNvSpPr>
            <a:spLocks noEditPoints="1"/>
          </p:cNvSpPr>
          <p:nvPr/>
        </p:nvSpPr>
        <p:spPr bwMode="gray">
          <a:xfrm>
            <a:off x="0" y="0"/>
            <a:ext cx="9144000" cy="6858000"/>
          </a:xfrm>
          <a:custGeom>
            <a:avLst/>
            <a:gdLst/>
            <a:ahLst/>
            <a:cxnLst/>
            <a:rect l="0" t="0" r="r" b="b"/>
            <a:pathLst>
              <a:path w="5760" h="432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74928" y="1447799"/>
            <a:ext cx="1113516" cy="4572001"/>
          </a:xfrm>
        </p:spPr>
        <p:txBody>
          <a:bodyPr vert="eaVert" anchor="ctr" anchorCtr="0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738" y="1447799"/>
            <a:ext cx="4416936" cy="4572001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8546" y="6365498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96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Oval 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24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7559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  <p:sldLayoutId id="2147483713" r:id="rId12"/>
    <p:sldLayoutId id="2147483714" r:id="rId13"/>
    <p:sldLayoutId id="2147483715" r:id="rId14"/>
    <p:sldLayoutId id="2147483716" r:id="rId15"/>
    <p:sldLayoutId id="2147483717" r:id="rId16"/>
    <p:sldLayoutId id="2147483718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505.23276?utm_source=chatgpt.com" TargetMode="External"/><Relationship Id="rId2" Type="http://schemas.openxmlformats.org/officeDocument/2006/relationships/hyperlink" Target="https://aclanthology.org/2025.arabicnlp-sharedtasks.1/?utm_source=chatgpt.com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FF0500-1E2D-5241-EB24-05EC78980C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9370" y="2872659"/>
            <a:ext cx="6345260" cy="3530600"/>
          </a:xfrm>
        </p:spPr>
        <p:txBody>
          <a:bodyPr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0000"/>
                </a:solidFill>
              </a:rPr>
              <a:t>Detection of AI-Generated Arabic Text Using Machine Learning</a:t>
            </a:r>
          </a:p>
        </p:txBody>
      </p:sp>
    </p:spTree>
    <p:extLst>
      <p:ext uri="{BB962C8B-B14F-4D97-AF65-F5344CB8AC3E}">
        <p14:creationId xmlns:p14="http://schemas.microsoft.com/office/powerpoint/2010/main" val="31003070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9E27822B-1A81-356A-069E-F9355597230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67747" y="3807244"/>
            <a:ext cx="8676861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dirty="0"/>
              <a:t>This project focuses on the </a:t>
            </a:r>
            <a:r>
              <a:rPr lang="en-US" b="1" dirty="0"/>
              <a:t>detection of AI-generated Arabic text</a:t>
            </a:r>
            <a:r>
              <a:rPr lang="en-US" dirty="0"/>
              <a:t> using machine learning and deep learning approaches. The goal is to distinguish between human-written and AI-generated abstracts in Arabic.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C229C67-22DA-F591-7F7A-2C7C887AD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5970" y="1477704"/>
            <a:ext cx="6343672" cy="709865"/>
          </a:xfrm>
        </p:spPr>
        <p:txBody>
          <a:bodyPr/>
          <a:lstStyle/>
          <a:p>
            <a:r>
              <a:rPr lang="en-US" b="1" dirty="0"/>
              <a:t>Introduction</a:t>
            </a:r>
            <a:br>
              <a:rPr lang="en-US" b="1" dirty="0"/>
            </a:br>
            <a:br>
              <a:rPr lang="en-US" b="1" dirty="0"/>
            </a:br>
            <a:br>
              <a:rPr lang="en-US" b="1" dirty="0"/>
            </a:b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8834819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52B8C2-1381-F3EA-A4B3-80FC729E3C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8E75613C-44D2-49EF-6BEF-6F9A2FE8D73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67747" y="2500920"/>
            <a:ext cx="8676861" cy="41652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The dataset combines:</a:t>
            </a:r>
          </a:p>
          <a:p>
            <a:r>
              <a:rPr lang="en-US" b="1" dirty="0"/>
              <a:t>Human-written abstracts</a:t>
            </a:r>
            <a:r>
              <a:rPr lang="en-US" dirty="0"/>
              <a:t>: Extracted directly from a verified source dataset.</a:t>
            </a:r>
          </a:p>
          <a:p>
            <a:r>
              <a:rPr lang="en-US" b="1" dirty="0"/>
              <a:t>AI-generated abstracts</a:t>
            </a:r>
            <a:r>
              <a:rPr lang="en-US" dirty="0"/>
              <a:t>: Produced by multiple language models for each human-written sample.</a:t>
            </a:r>
          </a:p>
          <a:p>
            <a:r>
              <a:rPr lang="en-US" b="1" dirty="0">
                <a:solidFill>
                  <a:srgbClr val="FF0000"/>
                </a:solidFill>
              </a:rPr>
              <a:t>Total samples</a:t>
            </a:r>
            <a:r>
              <a:rPr lang="en-US" dirty="0">
                <a:solidFill>
                  <a:srgbClr val="FF0000"/>
                </a:solidFill>
              </a:rPr>
              <a:t>: </a:t>
            </a:r>
            <a:r>
              <a:rPr lang="en-US" dirty="0"/>
              <a:t>41,940</a:t>
            </a:r>
          </a:p>
          <a:p>
            <a:r>
              <a:rPr lang="en-US" b="1" dirty="0">
                <a:solidFill>
                  <a:srgbClr val="FF0000"/>
                </a:solidFill>
              </a:rPr>
              <a:t>Features used</a:t>
            </a:r>
            <a:r>
              <a:rPr lang="en-US" dirty="0">
                <a:solidFill>
                  <a:srgbClr val="FF0000"/>
                </a:solidFill>
              </a:rPr>
              <a:t>:</a:t>
            </a:r>
          </a:p>
          <a:p>
            <a:r>
              <a:rPr lang="en-US" dirty="0" err="1"/>
              <a:t>abstract_text</a:t>
            </a:r>
            <a:r>
              <a:rPr lang="en-US" dirty="0"/>
              <a:t> – Raw abstract text</a:t>
            </a:r>
          </a:p>
          <a:p>
            <a:r>
              <a:rPr lang="en-US" dirty="0" err="1"/>
              <a:t>source_split</a:t>
            </a:r>
            <a:r>
              <a:rPr lang="en-US" dirty="0"/>
              <a:t> – Data source identifier</a:t>
            </a:r>
          </a:p>
          <a:p>
            <a:r>
              <a:rPr lang="en-US" dirty="0" err="1"/>
              <a:t>generated_by</a:t>
            </a:r>
            <a:r>
              <a:rPr lang="en-US" dirty="0"/>
              <a:t> – Human or AI model name</a:t>
            </a:r>
          </a:p>
          <a:p>
            <a:r>
              <a:rPr lang="en-US" dirty="0"/>
              <a:t>label – 1 for human, 0 for AI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376C65B-A326-CB53-5300-74D3FECDC4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771" y="701878"/>
            <a:ext cx="8523837" cy="709865"/>
          </a:xfrm>
        </p:spPr>
        <p:txBody>
          <a:bodyPr/>
          <a:lstStyle/>
          <a:p>
            <a:r>
              <a:rPr lang="en-US" b="1" dirty="0"/>
              <a:t>Dataset</a:t>
            </a:r>
          </a:p>
        </p:txBody>
      </p:sp>
    </p:spTree>
    <p:extLst>
      <p:ext uri="{BB962C8B-B14F-4D97-AF65-F5344CB8AC3E}">
        <p14:creationId xmlns:p14="http://schemas.microsoft.com/office/powerpoint/2010/main" val="21001754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7D18C7-10DF-236A-D068-58EA2FC036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1CE4012C-D67C-267F-C2E8-A06C19628D9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09381" y="2236267"/>
            <a:ext cx="8676861" cy="44627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Feature 3 Digits-to-Characters Ratio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This feature quantifies the proportion of digits relative to the total number of characters in a text. It captures numeric content that may indicate dates, amounts, or structured information. </a:t>
            </a:r>
          </a:p>
          <a:p>
            <a:r>
              <a:rPr lang="en-US" b="1" dirty="0"/>
              <a:t>Feature 26  Number of Commas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The frequency of commas is an indicator of sentence complexity and structure. Longer or more complex sentences tend to have more punctuation marks, which can correlate with certain text classes. </a:t>
            </a:r>
          </a:p>
          <a:p>
            <a:r>
              <a:rPr lang="en-US" b="1" dirty="0"/>
              <a:t>Feature 49  Number of Arabic Particles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Arabic particles  are functional words that indicate relationships between sentence elements. Counting these particles helps the model understand sentence structure and discourse relations.</a:t>
            </a:r>
          </a:p>
          <a:p>
            <a:pPr marL="0" indent="0"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003F48C-4D88-2DE3-A2A4-DA948E195C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2279" y="1113911"/>
            <a:ext cx="7939442" cy="709865"/>
          </a:xfrm>
        </p:spPr>
        <p:txBody>
          <a:bodyPr/>
          <a:lstStyle/>
          <a:p>
            <a:r>
              <a:rPr lang="en-US" b="1" dirty="0"/>
              <a:t>Feature Engineering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72636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421384-8534-038B-1A7F-07FDF4BBA5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17A2E83E-FC4C-82C0-E572-CABA2CB227D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09381" y="2529074"/>
            <a:ext cx="8676861" cy="35035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Feature 72 Count of Third-Person Pronouns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Third-person pronouns indicate references to external entities or subjects. Their frequency can provide information about narrative perspective or sentiment targeting.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Feature 95 Polarity Shift Frequency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Polarity shift measures the occurrence of positive and negative sentiment within a sentence. Using predefined sets of positive words and negative words</a:t>
            </a:r>
          </a:p>
          <a:p>
            <a:pPr marL="0" indent="0"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15F8C6A-9416-7BA0-F7D0-CEA205FD77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2279" y="1113911"/>
            <a:ext cx="7939442" cy="709865"/>
          </a:xfrm>
        </p:spPr>
        <p:txBody>
          <a:bodyPr/>
          <a:lstStyle/>
          <a:p>
            <a:r>
              <a:rPr lang="en-US" b="1" dirty="0"/>
              <a:t>Feature Engineering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66842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D4E1B3-A434-A845-F5C5-716647131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45EB0CD-3BB9-0D50-7A8C-7804F30939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2279" y="1113911"/>
            <a:ext cx="7939442" cy="709865"/>
          </a:xfrm>
        </p:spPr>
        <p:txBody>
          <a:bodyPr/>
          <a:lstStyle/>
          <a:p>
            <a:r>
              <a:rPr lang="en-US" b="1" dirty="0"/>
              <a:t>Traditional Machine Learning</a:t>
            </a:r>
            <a:endParaRPr lang="en-US" dirty="0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42CFD15B-673F-82DC-ABEF-0F71DAE2390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09381" y="3285691"/>
            <a:ext cx="8676861" cy="1990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Support Vector Machine (SVM)</a:t>
            </a:r>
            <a:endParaRPr lang="ar-SA" b="1" dirty="0"/>
          </a:p>
          <a:p>
            <a:r>
              <a:rPr lang="en-US" b="1" dirty="0"/>
              <a:t>Random Forest Classifier</a:t>
            </a:r>
            <a:endParaRPr lang="ar-SA" b="1" dirty="0"/>
          </a:p>
          <a:p>
            <a:r>
              <a:rPr lang="en-US" b="1" dirty="0"/>
              <a:t>XGBoost Classifier</a:t>
            </a:r>
            <a:endParaRPr lang="ar-SA" b="1" dirty="0"/>
          </a:p>
          <a:p>
            <a:r>
              <a:rPr lang="en-US" b="1" dirty="0"/>
              <a:t>Logistic Regression (Base Model) </a:t>
            </a:r>
            <a:endParaRPr lang="en-US" dirty="0"/>
          </a:p>
          <a:p>
            <a:pPr marL="0" indent="0"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40596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32734E-2BA5-BBE9-4682-070B638612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0AFE259-8817-5BBF-5B46-D0C2A1B743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2279" y="1113911"/>
            <a:ext cx="7939442" cy="709865"/>
          </a:xfrm>
        </p:spPr>
        <p:txBody>
          <a:bodyPr/>
          <a:lstStyle/>
          <a:p>
            <a:r>
              <a:rPr lang="en-US" b="1" dirty="0"/>
              <a:t>Traditional Machine Learning</a:t>
            </a:r>
            <a:endParaRPr lang="en-US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0F4AF5E-106E-B2B9-9FC1-E9A935630E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5821689"/>
              </p:ext>
            </p:extLst>
          </p:nvPr>
        </p:nvGraphicFramePr>
        <p:xfrm>
          <a:off x="863600" y="2871019"/>
          <a:ext cx="7002208" cy="219855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50552">
                  <a:extLst>
                    <a:ext uri="{9D8B030D-6E8A-4147-A177-3AD203B41FA5}">
                      <a16:colId xmlns:a16="http://schemas.microsoft.com/office/drawing/2014/main" val="245722664"/>
                    </a:ext>
                  </a:extLst>
                </a:gridCol>
                <a:gridCol w="1750552">
                  <a:extLst>
                    <a:ext uri="{9D8B030D-6E8A-4147-A177-3AD203B41FA5}">
                      <a16:colId xmlns:a16="http://schemas.microsoft.com/office/drawing/2014/main" val="1091487267"/>
                    </a:ext>
                  </a:extLst>
                </a:gridCol>
                <a:gridCol w="1750552">
                  <a:extLst>
                    <a:ext uri="{9D8B030D-6E8A-4147-A177-3AD203B41FA5}">
                      <a16:colId xmlns:a16="http://schemas.microsoft.com/office/drawing/2014/main" val="276725562"/>
                    </a:ext>
                  </a:extLst>
                </a:gridCol>
                <a:gridCol w="1750552">
                  <a:extLst>
                    <a:ext uri="{9D8B030D-6E8A-4147-A177-3AD203B41FA5}">
                      <a16:colId xmlns:a16="http://schemas.microsoft.com/office/drawing/2014/main" val="1109045200"/>
                    </a:ext>
                  </a:extLst>
                </a:gridCol>
              </a:tblGrid>
              <a:tr h="249792">
                <a:tc>
                  <a:txBody>
                    <a:bodyPr/>
                    <a:lstStyle/>
                    <a:p>
                      <a:pPr marL="0" marR="0" algn="just" rtl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Model</a:t>
                      </a:r>
                      <a:endParaRPr lang="en-US" sz="1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just" rtl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Accuracy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just" rtl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Weighted F1-score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just" rtl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Notes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693091548"/>
                  </a:ext>
                </a:extLst>
              </a:tr>
              <a:tr h="487190">
                <a:tc>
                  <a:txBody>
                    <a:bodyPr/>
                    <a:lstStyle/>
                    <a:p>
                      <a:pPr marL="0" marR="0" algn="just" rtl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Logistic Regression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just" rtl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0.962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just" rtl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0.96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just" rtl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Baseline, lower minority class recall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345949820"/>
                  </a:ext>
                </a:extLst>
              </a:tr>
              <a:tr h="487190">
                <a:tc>
                  <a:txBody>
                    <a:bodyPr/>
                    <a:lstStyle/>
                    <a:p>
                      <a:pPr marL="0" marR="0" algn="just" rtl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SVM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just" rtl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0.975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just" rtl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0.98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just" rtl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Balanced across classes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380164076"/>
                  </a:ext>
                </a:extLst>
              </a:tr>
              <a:tr h="487190">
                <a:tc>
                  <a:txBody>
                    <a:bodyPr/>
                    <a:lstStyle/>
                    <a:p>
                      <a:pPr marL="0" marR="0" algn="just" rtl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Random Forest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just" rtl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0.978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just" rtl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0.98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just" rtl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Best overall performance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76849121"/>
                  </a:ext>
                </a:extLst>
              </a:tr>
              <a:tr h="487190">
                <a:tc>
                  <a:txBody>
                    <a:bodyPr/>
                    <a:lstStyle/>
                    <a:p>
                      <a:pPr marL="0" marR="0" algn="just" rtl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XGBoost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just" rtl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0.969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just" rtl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0.97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just" rtl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Competitive, lower class 1 precision</a:t>
                      </a:r>
                      <a:endParaRPr lang="en-US" sz="1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7789335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552290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32A825-25CD-C9D6-F0FD-0E64325DDF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A10F052-94AE-A02B-CF11-E32CD12998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2279" y="1113911"/>
            <a:ext cx="7939442" cy="709865"/>
          </a:xfrm>
        </p:spPr>
        <p:txBody>
          <a:bodyPr/>
          <a:lstStyle/>
          <a:p>
            <a:r>
              <a:rPr lang="en-US" b="1" dirty="0"/>
              <a:t>Deep Learning</a:t>
            </a:r>
            <a:endParaRPr lang="en-US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ABBDE073-5974-AEF0-3F10-9D0BD4E1A8B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09381" y="2944573"/>
            <a:ext cx="8676861" cy="26725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Architecture</a:t>
            </a:r>
            <a:r>
              <a:rPr lang="en-US" dirty="0"/>
              <a:t>: Dense neural network with two hidden layers (256 → 128 units), dropout 0.3, sigmoid output</a:t>
            </a:r>
          </a:p>
          <a:p>
            <a:r>
              <a:rPr lang="en-US" b="1" dirty="0"/>
              <a:t>Trainable parameters: </a:t>
            </a:r>
            <a:r>
              <a:rPr lang="en-US" dirty="0"/>
              <a:t>131,585</a:t>
            </a:r>
          </a:p>
          <a:p>
            <a:r>
              <a:rPr lang="en-US" b="1" dirty="0"/>
              <a:t>Optimizer / Loss: </a:t>
            </a:r>
            <a:r>
              <a:rPr lang="en-US" dirty="0"/>
              <a:t>Adam, Binary Cross-Entropy</a:t>
            </a:r>
          </a:p>
          <a:p>
            <a:r>
              <a:rPr lang="en-US" b="1" dirty="0"/>
              <a:t>Epochs: </a:t>
            </a:r>
            <a:r>
              <a:rPr lang="en-US" dirty="0"/>
              <a:t>10</a:t>
            </a: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72542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42CBA8-393A-BCE0-C6B2-D5270E42B1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1A48C88-F727-329D-E868-C2F83969A9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2279" y="1113911"/>
            <a:ext cx="7939442" cy="709865"/>
          </a:xfrm>
        </p:spPr>
        <p:txBody>
          <a:bodyPr/>
          <a:lstStyle/>
          <a:p>
            <a:r>
              <a:rPr lang="en-US" b="1" dirty="0"/>
              <a:t>Deep Learning</a:t>
            </a: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8F61AEE-A03F-5818-4366-7875127830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6778734"/>
              </p:ext>
            </p:extLst>
          </p:nvPr>
        </p:nvGraphicFramePr>
        <p:xfrm>
          <a:off x="863600" y="3634802"/>
          <a:ext cx="7130025" cy="157629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26005">
                  <a:extLst>
                    <a:ext uri="{9D8B030D-6E8A-4147-A177-3AD203B41FA5}">
                      <a16:colId xmlns:a16="http://schemas.microsoft.com/office/drawing/2014/main" val="3604784041"/>
                    </a:ext>
                  </a:extLst>
                </a:gridCol>
                <a:gridCol w="1426005">
                  <a:extLst>
                    <a:ext uri="{9D8B030D-6E8A-4147-A177-3AD203B41FA5}">
                      <a16:colId xmlns:a16="http://schemas.microsoft.com/office/drawing/2014/main" val="3891393207"/>
                    </a:ext>
                  </a:extLst>
                </a:gridCol>
                <a:gridCol w="1426005">
                  <a:extLst>
                    <a:ext uri="{9D8B030D-6E8A-4147-A177-3AD203B41FA5}">
                      <a16:colId xmlns:a16="http://schemas.microsoft.com/office/drawing/2014/main" val="2164522444"/>
                    </a:ext>
                  </a:extLst>
                </a:gridCol>
                <a:gridCol w="1426005">
                  <a:extLst>
                    <a:ext uri="{9D8B030D-6E8A-4147-A177-3AD203B41FA5}">
                      <a16:colId xmlns:a16="http://schemas.microsoft.com/office/drawing/2014/main" val="4046882483"/>
                    </a:ext>
                  </a:extLst>
                </a:gridCol>
                <a:gridCol w="1426005">
                  <a:extLst>
                    <a:ext uri="{9D8B030D-6E8A-4147-A177-3AD203B41FA5}">
                      <a16:colId xmlns:a16="http://schemas.microsoft.com/office/drawing/2014/main" val="1886477983"/>
                    </a:ext>
                  </a:extLst>
                </a:gridCol>
              </a:tblGrid>
              <a:tr h="262581">
                <a:tc>
                  <a:txBody>
                    <a:bodyPr/>
                    <a:lstStyle/>
                    <a:p>
                      <a:pPr marL="0" marR="0" algn="just" rtl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Class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just" rtl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Precision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just" rtl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Recall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just" rtl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F1-score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just" rtl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Support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718164552"/>
                  </a:ext>
                </a:extLst>
              </a:tr>
              <a:tr h="262743">
                <a:tc>
                  <a:txBody>
                    <a:bodyPr/>
                    <a:lstStyle/>
                    <a:p>
                      <a:pPr marL="0" marR="0" algn="just" rtl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just" rtl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0.89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just" rtl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0.95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just" rtl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0.92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just" rtl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4978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885954897"/>
                  </a:ext>
                </a:extLst>
              </a:tr>
              <a:tr h="262743">
                <a:tc>
                  <a:txBody>
                    <a:bodyPr/>
                    <a:lstStyle/>
                    <a:p>
                      <a:pPr marL="0" marR="0" algn="just" rtl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just" rtl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0.76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just" rtl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0.57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just" rtl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0.65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just" rtl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1313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305804514"/>
                  </a:ext>
                </a:extLst>
              </a:tr>
              <a:tr h="262743">
                <a:tc>
                  <a:txBody>
                    <a:bodyPr/>
                    <a:lstStyle/>
                    <a:p>
                      <a:pPr marL="0" marR="0" algn="just" rtl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Accuracy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endParaRPr lang="en-US" sz="110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buNone/>
                      </a:pPr>
                      <a:endParaRPr lang="en-US" sz="110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just" rtl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0.87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just" rtl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6291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592077174"/>
                  </a:ext>
                </a:extLst>
              </a:tr>
              <a:tr h="262743">
                <a:tc>
                  <a:txBody>
                    <a:bodyPr/>
                    <a:lstStyle/>
                    <a:p>
                      <a:pPr marL="0" marR="0" algn="just" rtl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Macro Avg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just" rtl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0.83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just" rtl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0.76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just" rtl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0.79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just" rtl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6291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803875192"/>
                  </a:ext>
                </a:extLst>
              </a:tr>
              <a:tr h="262743">
                <a:tc>
                  <a:txBody>
                    <a:bodyPr/>
                    <a:lstStyle/>
                    <a:p>
                      <a:pPr marL="0" marR="0" algn="just" rtl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Weighted Avg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just" rtl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0.87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just" rtl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0.87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just" rtl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0.87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just" rtl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6291</a:t>
                      </a:r>
                      <a:endParaRPr lang="en-US" sz="1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6782950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705326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523794-7572-C002-4B61-DFCC316CF6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A63C4720-4020-3711-28C4-A35D547DD23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67139" y="3236298"/>
            <a:ext cx="8676861" cy="13285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dirty="0"/>
              <a:t>Deep learning performed well for human-written text but underperformed for AI-generated text.</a:t>
            </a:r>
          </a:p>
          <a:p>
            <a:pPr lvl="0"/>
            <a:r>
              <a:rPr lang="en-US" dirty="0"/>
              <a:t>Traditional ML classifiers, particularly Random Forest and SVM, achieved higher overall accuracy and balanced F1-scores.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77EA239-BBB6-D707-5A1F-4F841267AA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7099" y="877428"/>
            <a:ext cx="7939442" cy="709865"/>
          </a:xfrm>
        </p:spPr>
        <p:txBody>
          <a:bodyPr/>
          <a:lstStyle/>
          <a:p>
            <a:r>
              <a:rPr lang="en-US" b="1" dirty="0"/>
              <a:t>Discussion</a:t>
            </a:r>
          </a:p>
        </p:txBody>
      </p:sp>
    </p:spTree>
    <p:extLst>
      <p:ext uri="{BB962C8B-B14F-4D97-AF65-F5344CB8AC3E}">
        <p14:creationId xmlns:p14="http://schemas.microsoft.com/office/powerpoint/2010/main" val="24089579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5AA806-E393-A97F-1FE0-1C6F649F2F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882ABD49-25CE-57E7-78B1-20BC7E6E38E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67139" y="2459096"/>
            <a:ext cx="8676861" cy="24160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endParaRPr lang="en-US" b="1" dirty="0">
              <a:solidFill>
                <a:schemeClr val="accent1"/>
              </a:solidFill>
            </a:endParaRPr>
          </a:p>
          <a:p>
            <a:r>
              <a:rPr lang="en-US" dirty="0"/>
              <a:t>Engineered features combined with Arabic-specific preprocessing enhance AI-text detection performance.</a:t>
            </a:r>
          </a:p>
          <a:p>
            <a:r>
              <a:rPr lang="en-US" dirty="0"/>
              <a:t>Traditional ML models outperform deep learning in this dataset for AI-generated text detection.</a:t>
            </a:r>
          </a:p>
          <a:p>
            <a:r>
              <a:rPr lang="en-US" dirty="0"/>
              <a:t>Features like punctuation counts, particles, pronouns, and polarity shifts provide interpretable insights into text style.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4648A5E-73E3-11E3-AC74-89049D477A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2279" y="953485"/>
            <a:ext cx="7939442" cy="709865"/>
          </a:xfrm>
        </p:spPr>
        <p:txBody>
          <a:bodyPr/>
          <a:lstStyle/>
          <a:p>
            <a:r>
              <a:rPr lang="en-US" b="1" dirty="0"/>
              <a:t>Conclusion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37073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60E041-39CA-F128-1BE8-E9A9B45C0B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76B9BAE5-3013-1058-A1C3-D4035ED5E48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67139" y="3147575"/>
            <a:ext cx="8676861" cy="18620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Include additional linguistic and syntactic features.</a:t>
            </a:r>
          </a:p>
          <a:p>
            <a:r>
              <a:rPr lang="en-US" dirty="0"/>
              <a:t>Evaluate model generalization across domains and text types.</a:t>
            </a:r>
          </a:p>
          <a:p>
            <a:r>
              <a:rPr lang="en-US" dirty="0"/>
              <a:t>Combine engineered features with transformer embeddings in hybrid models.</a:t>
            </a:r>
          </a:p>
          <a:p>
            <a:r>
              <a:rPr lang="en-US" dirty="0"/>
              <a:t>Extend detection to Arabic dialects and mixed-standard texts.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A8A7C33-60C6-3E8E-73F7-6818E26919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2279" y="953485"/>
            <a:ext cx="7939442" cy="709865"/>
          </a:xfrm>
        </p:spPr>
        <p:txBody>
          <a:bodyPr/>
          <a:lstStyle/>
          <a:p>
            <a:r>
              <a:rPr lang="en-US" b="1" dirty="0"/>
              <a:t>Future Work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90073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C6F2D-C8BB-B672-741E-B11E2D833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5970" y="927098"/>
            <a:ext cx="7313934" cy="709865"/>
          </a:xfrm>
        </p:spPr>
        <p:txBody>
          <a:bodyPr/>
          <a:lstStyle/>
          <a:p>
            <a:r>
              <a:rPr lang="en-US" b="1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21D08B-888D-A738-DED8-2453F59B97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7261" y="2489200"/>
            <a:ext cx="7851913" cy="3530600"/>
          </a:xfrm>
        </p:spPr>
        <p:txBody>
          <a:bodyPr>
            <a:normAutofit fontScale="77500" lnSpcReduction="20000"/>
          </a:bodyPr>
          <a:lstStyle/>
          <a:p>
            <a:r>
              <a:rPr lang="en-US" dirty="0" err="1"/>
              <a:t>Abudalfa</a:t>
            </a:r>
            <a:r>
              <a:rPr lang="en-US" dirty="0"/>
              <a:t>, S., </a:t>
            </a:r>
            <a:r>
              <a:rPr lang="en-US" dirty="0" err="1"/>
              <a:t>Ezzini</a:t>
            </a:r>
            <a:r>
              <a:rPr lang="en-US" dirty="0"/>
              <a:t>, S., Abdelali, A., Alami, H., </a:t>
            </a:r>
            <a:r>
              <a:rPr lang="en-US" dirty="0" err="1"/>
              <a:t>Benlahbib</a:t>
            </a:r>
            <a:r>
              <a:rPr lang="en-US" dirty="0"/>
              <a:t>, A., Chafik, S., … Luqman, H. (2025). </a:t>
            </a:r>
            <a:r>
              <a:rPr lang="en-US" i="1" dirty="0"/>
              <a:t>The </a:t>
            </a:r>
            <a:r>
              <a:rPr lang="en-US" i="1" dirty="0" err="1"/>
              <a:t>AraGenEval</a:t>
            </a:r>
            <a:r>
              <a:rPr lang="en-US" i="1" dirty="0"/>
              <a:t> Shared Task on Arabic Authorship Style Transfer and AI Generated Text Detection</a:t>
            </a:r>
            <a:r>
              <a:rPr lang="en-US" dirty="0"/>
              <a:t>. In </a:t>
            </a:r>
            <a:r>
              <a:rPr lang="en-US" i="1" dirty="0"/>
              <a:t>Proceedings of The Third Arabic Natural Language Processing Conference: Shared Tasks</a:t>
            </a:r>
            <a:r>
              <a:rPr lang="en-US" dirty="0"/>
              <a:t> (pp. 1–13). Association for Computational Linguistics. </a:t>
            </a:r>
            <a:r>
              <a:rPr lang="en-US" u="sng" dirty="0">
                <a:hlinkClick r:id="rId2"/>
              </a:rPr>
              <a:t>https://aclanthology.org/2025.arabicnlp-sharedtasks.1/?utm_source=chatgpt.com</a:t>
            </a:r>
            <a:endParaRPr lang="en-US" dirty="0"/>
          </a:p>
          <a:p>
            <a:r>
              <a:rPr lang="en-US" dirty="0"/>
              <a:t>Alghamdi, N. S., &amp; </a:t>
            </a:r>
            <a:r>
              <a:rPr lang="en-US" dirty="0" err="1"/>
              <a:t>Alowibdi</a:t>
            </a:r>
            <a:r>
              <a:rPr lang="en-US" dirty="0"/>
              <a:t>, J. S. (2024). Distinguishing Arabic GenAI-generated Tweets and Human Tweets utilizing Machine Learning. </a:t>
            </a:r>
            <a:r>
              <a:rPr lang="en-US" i="1" dirty="0"/>
              <a:t>Engineering, Technology &amp; Applied Science Research, 14</a:t>
            </a:r>
            <a:r>
              <a:rPr lang="en-US" dirty="0"/>
              <a:t>(5), 16720–16726. https://doi.org/10.48084/etasr.8249</a:t>
            </a:r>
          </a:p>
          <a:p>
            <a:r>
              <a:rPr lang="en-US" dirty="0"/>
              <a:t>Alshammari, H., &amp; El-Sayed, A. (2023). </a:t>
            </a:r>
            <a:r>
              <a:rPr lang="en-US" i="1" dirty="0"/>
              <a:t>AIRABIC: A Benchmark Corpus for Arabic AI-Generated Text Detection</a:t>
            </a:r>
            <a:r>
              <a:rPr lang="en-US" dirty="0"/>
              <a:t>. [Dataset / Paper]</a:t>
            </a:r>
          </a:p>
          <a:p>
            <a:r>
              <a:rPr lang="en-US" dirty="0"/>
              <a:t>Alshammari, H., El-Sayed, A., &amp; </a:t>
            </a:r>
            <a:r>
              <a:rPr lang="en-US" dirty="0" err="1"/>
              <a:t>Elleithy</a:t>
            </a:r>
            <a:r>
              <a:rPr lang="en-US" dirty="0"/>
              <a:t>, K. (2024). AI-Generated Text Detector for Arabic Language Using Encoder-Based Transformer Architecture. </a:t>
            </a:r>
            <a:r>
              <a:rPr lang="en-US" i="1" dirty="0"/>
              <a:t>Big Data and Cognitive Computing, 8</a:t>
            </a:r>
            <a:r>
              <a:rPr lang="en-US" dirty="0"/>
              <a:t>(3), 32. https://doi.org/10.3390/bdcc8030032</a:t>
            </a:r>
          </a:p>
          <a:p>
            <a:r>
              <a:rPr lang="en-US" dirty="0"/>
              <a:t>Al-Shaibani, M. S., &amp; Ahmed, M. (2025). </a:t>
            </a:r>
            <a:r>
              <a:rPr lang="en-US" i="1" dirty="0"/>
              <a:t>The Arabic AI Fingerprint: Stylometric Analysis and Detection of Large Language Models Text</a:t>
            </a:r>
            <a:r>
              <a:rPr lang="en-US" dirty="0"/>
              <a:t>. </a:t>
            </a:r>
            <a:r>
              <a:rPr lang="en-US" dirty="0" err="1"/>
              <a:t>arXiv</a:t>
            </a:r>
            <a:r>
              <a:rPr lang="en-US" dirty="0"/>
              <a:t>. </a:t>
            </a:r>
            <a:r>
              <a:rPr lang="en-US" u="sng" dirty="0">
                <a:hlinkClick r:id="rId3"/>
              </a:rPr>
              <a:t>https://arxiv.org/abs/2505.23276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69760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27C4AE-9905-0638-EEC0-0391E04D39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65467-7A48-A509-99B9-1EF2CA8127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5970" y="927098"/>
            <a:ext cx="7313934" cy="709865"/>
          </a:xfrm>
        </p:spPr>
        <p:txBody>
          <a:bodyPr/>
          <a:lstStyle/>
          <a:p>
            <a:r>
              <a:rPr lang="en-US" b="1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DC8E07-5ACB-16FF-8D2F-70B3BCCCC4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7261" y="2489200"/>
            <a:ext cx="7851913" cy="3530600"/>
          </a:xfrm>
        </p:spPr>
        <p:txBody>
          <a:bodyPr>
            <a:normAutofit fontScale="62500" lnSpcReduction="20000"/>
          </a:bodyPr>
          <a:lstStyle/>
          <a:p>
            <a:r>
              <a:rPr lang="en-US"/>
              <a:t>Antoun</a:t>
            </a:r>
            <a:r>
              <a:rPr lang="en-US" dirty="0"/>
              <a:t>, W., Baly, F., &amp; Hajj, H. (2020). </a:t>
            </a:r>
            <a:r>
              <a:rPr lang="en-US" i="1" dirty="0"/>
              <a:t>AraBERT: Transformer-based Model for Arabic Language Understanding</a:t>
            </a:r>
            <a:r>
              <a:rPr lang="en-US" dirty="0"/>
              <a:t>. [Conference/Journal Paper]</a:t>
            </a:r>
          </a:p>
          <a:p>
            <a:r>
              <a:rPr lang="en-US" dirty="0"/>
              <a:t>Brown, T., Mann, B., Ryder, N., Subbiah, M., Kaplan, J., Dhariwal, P., … Amodei, D. (2020). Language models are few-shot learners. </a:t>
            </a:r>
            <a:r>
              <a:rPr lang="en-US" i="1" dirty="0"/>
              <a:t>Advances in Neural Information Processing Systems, 33</a:t>
            </a:r>
            <a:r>
              <a:rPr lang="en-US" dirty="0"/>
              <a:t>, 1877–1901.</a:t>
            </a:r>
          </a:p>
          <a:p>
            <a:r>
              <a:rPr lang="en-US" dirty="0" err="1"/>
              <a:t>Conneau</a:t>
            </a:r>
            <a:r>
              <a:rPr lang="en-US" dirty="0"/>
              <a:t>, A., Khandelwal, K., Goyal, N., Chaudhary, V., Wenzek, G., Guzmán, F., … Stoyanov, V. (2020). Unsupervised cross-lingual representation learning at scale. </a:t>
            </a:r>
            <a:r>
              <a:rPr lang="en-US" i="1" dirty="0"/>
              <a:t>Proceedings of ACL</a:t>
            </a:r>
            <a:r>
              <a:rPr lang="en-US" dirty="0"/>
              <a:t>, 8440–8451.</a:t>
            </a:r>
          </a:p>
          <a:p>
            <a:r>
              <a:rPr lang="en-US" dirty="0"/>
              <a:t>Devlin, J., Chang, M.-W., Lee, K., &amp; Toutanova, K. (2019). BERT: Pre-training of deep bidirectional transformers for language understanding. </a:t>
            </a:r>
            <a:r>
              <a:rPr lang="en-US" i="1" dirty="0"/>
              <a:t>NAACL-HLT</a:t>
            </a:r>
            <a:r>
              <a:rPr lang="en-US" dirty="0"/>
              <a:t>, 4171–4186.</a:t>
            </a:r>
          </a:p>
          <a:p>
            <a:r>
              <a:rPr lang="en-US" dirty="0"/>
              <a:t>Dong, W., Zhang, L., &amp; Yang, J. (2020). Ensemble learning for text classification: A review. </a:t>
            </a:r>
            <a:r>
              <a:rPr lang="en-US" i="1" dirty="0"/>
              <a:t>IEEE Access, 8</a:t>
            </a:r>
            <a:r>
              <a:rPr lang="en-US" dirty="0"/>
              <a:t>, 209050–209064.</a:t>
            </a:r>
          </a:p>
          <a:p>
            <a:r>
              <a:rPr lang="en-US" dirty="0"/>
              <a:t>El </a:t>
            </a:r>
            <a:r>
              <a:rPr lang="en-US" dirty="0" err="1"/>
              <a:t>Mahdaouy</a:t>
            </a:r>
            <a:r>
              <a:rPr lang="en-US" dirty="0"/>
              <a:t>, A., … (2025). LMSA ensemble-based model for Arabic AI-generated text detection. </a:t>
            </a:r>
            <a:r>
              <a:rPr lang="en-US" i="1" dirty="0" err="1"/>
              <a:t>AraGenEval</a:t>
            </a:r>
            <a:r>
              <a:rPr lang="en-US" i="1" dirty="0"/>
              <a:t> Shared Task Report</a:t>
            </a:r>
            <a:r>
              <a:rPr lang="en-US" dirty="0"/>
              <a:t>.</a:t>
            </a:r>
          </a:p>
          <a:p>
            <a:r>
              <a:rPr lang="en-US" dirty="0"/>
              <a:t>Guellil, I., </a:t>
            </a:r>
            <a:r>
              <a:rPr lang="en-US" dirty="0" err="1"/>
              <a:t>Azouaou</a:t>
            </a:r>
            <a:r>
              <a:rPr lang="en-US" dirty="0"/>
              <a:t>, F., &amp; </a:t>
            </a:r>
            <a:r>
              <a:rPr lang="en-US" dirty="0" err="1"/>
              <a:t>Azouaou</a:t>
            </a:r>
            <a:r>
              <a:rPr lang="en-US" dirty="0"/>
              <a:t>, D. (2021). Arabic natural language processing: Challenges and opportunities. </a:t>
            </a:r>
            <a:r>
              <a:rPr lang="en-US" i="1" dirty="0"/>
              <a:t>Journal of King Saud University – Computer and Information Sciences, 33</a:t>
            </a:r>
            <a:r>
              <a:rPr lang="en-US" dirty="0"/>
              <a:t>(1), 1–15.</a:t>
            </a:r>
          </a:p>
        </p:txBody>
      </p:sp>
    </p:spTree>
    <p:extLst>
      <p:ext uri="{BB962C8B-B14F-4D97-AF65-F5344CB8AC3E}">
        <p14:creationId xmlns:p14="http://schemas.microsoft.com/office/powerpoint/2010/main" val="296531909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184</TotalTime>
  <Words>1243</Words>
  <Application>Microsoft Office PowerPoint</Application>
  <PresentationFormat>On-screen Show (4:3)</PresentationFormat>
  <Paragraphs>143</Paragraphs>
  <Slides>14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Arial</vt:lpstr>
      <vt:lpstr>Century Gothic</vt:lpstr>
      <vt:lpstr>Wingdings 3</vt:lpstr>
      <vt:lpstr>Ion Boardroom</vt:lpstr>
      <vt:lpstr>PowerPoint Presentation</vt:lpstr>
      <vt:lpstr>Introduction   </vt:lpstr>
      <vt:lpstr>Dataset</vt:lpstr>
      <vt:lpstr>Feature Engineering</vt:lpstr>
      <vt:lpstr>Feature Engineering</vt:lpstr>
      <vt:lpstr>Traditional Machine Learning</vt:lpstr>
      <vt:lpstr>Traditional Machine Learning</vt:lpstr>
      <vt:lpstr>Deep Learning</vt:lpstr>
      <vt:lpstr>Deep Learning</vt:lpstr>
      <vt:lpstr>Discussion</vt:lpstr>
      <vt:lpstr>Conclusion</vt:lpstr>
      <vt:lpstr>Future Work</vt:lpstr>
      <vt:lpstr>References</vt:lpstr>
      <vt:lpstr>References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Maryam Gaber</dc:creator>
  <cp:keywords/>
  <dc:description>generated using python-pptx</dc:description>
  <cp:lastModifiedBy>Maryam Gaber</cp:lastModifiedBy>
  <cp:revision>8</cp:revision>
  <dcterms:created xsi:type="dcterms:W3CDTF">2013-01-27T09:14:16Z</dcterms:created>
  <dcterms:modified xsi:type="dcterms:W3CDTF">2025-12-14T19:34:48Z</dcterms:modified>
  <cp:category/>
</cp:coreProperties>
</file>