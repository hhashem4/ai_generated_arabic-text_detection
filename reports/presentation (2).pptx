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notesMasterIdLst>
    <p:notesMasterId r:id="rId11"/>
  </p:notesMasterIdLst>
  <p:sldIdLst>
    <p:sldId id="261" r:id="rId2"/>
    <p:sldId id="259" r:id="rId3"/>
    <p:sldId id="262" r:id="rId4"/>
    <p:sldId id="263" r:id="rId5"/>
    <p:sldId id="272" r:id="rId6"/>
    <p:sldId id="264" r:id="rId7"/>
    <p:sldId id="277" r:id="rId8"/>
    <p:sldId id="274" r:id="rId9"/>
    <p:sldId id="267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401" autoAdjust="0"/>
    <p:restoredTop sz="72837" autoAdjust="0"/>
  </p:normalViewPr>
  <p:slideViewPr>
    <p:cSldViewPr snapToGrid="0" snapToObjects="1">
      <p:cViewPr varScale="1">
        <p:scale>
          <a:sx n="55" d="100"/>
          <a:sy n="55" d="100"/>
        </p:scale>
        <p:origin x="45" y="3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48936A-1FEB-4E74-9FF2-1F6C6E12595F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E9FF6-7FCC-4BA7-BC10-9F40C2FA55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751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6896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6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959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706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CDAFB-B837-DC18-3161-CC2480DAE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8CC9B2-72DA-8E4E-AF26-F0B323C87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60565-A8BA-E039-1972-BC4E6150C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FD0772-AB00-23E9-D7AE-CF9EAAEC2B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403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37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E9FF6-7FCC-4BA7-BC10-9F40C2FA553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70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571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5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55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573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84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349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692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856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432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210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300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45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8650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972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597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259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7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05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F0500-1E2D-5241-EB24-05EC78980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370" y="2872659"/>
            <a:ext cx="6345260" cy="35306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Detection of AI-Generated Arabic Text Using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3100307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C229C67-22DA-F591-7F7A-2C7C887AD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970" y="1477704"/>
            <a:ext cx="6343672" cy="709865"/>
          </a:xfrm>
        </p:spPr>
        <p:txBody>
          <a:bodyPr/>
          <a:lstStyle/>
          <a:p>
            <a:r>
              <a:rPr lang="en-US" b="1" dirty="0"/>
              <a:t>Introduction</a:t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27822B-1A81-356A-069E-F93555972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3807244"/>
            <a:ext cx="867686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dirty="0"/>
              <a:t>This project focuses on the </a:t>
            </a:r>
            <a:r>
              <a:rPr lang="en-US" b="1" dirty="0"/>
              <a:t>detection of AI-generated Arabic text</a:t>
            </a:r>
            <a:r>
              <a:rPr lang="en-US" dirty="0"/>
              <a:t> using machine learning and deep learning approaches. The goal is to distinguish between human-written and AI-generated abstracts in Arabic.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481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B8C2-1381-F3EA-A4B3-80FC729E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376C65B-A326-CB53-5300-74D3FECDC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71" y="701878"/>
            <a:ext cx="8523837" cy="709865"/>
          </a:xfrm>
        </p:spPr>
        <p:txBody>
          <a:bodyPr/>
          <a:lstStyle/>
          <a:p>
            <a:r>
              <a:rPr lang="en-US" b="1" dirty="0"/>
              <a:t>Dataset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E75613C-44D2-49EF-6BEF-6F9A2FE8D7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7747" y="2703539"/>
            <a:ext cx="8676861" cy="3760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The dataset combines:</a:t>
            </a:r>
          </a:p>
          <a:p>
            <a:r>
              <a:rPr lang="en-US" b="1" dirty="0"/>
              <a:t>Human-written abstracts</a:t>
            </a:r>
            <a:r>
              <a:rPr lang="en-US" dirty="0"/>
              <a:t>: Extracted directly from a verified source dataset.</a:t>
            </a:r>
          </a:p>
          <a:p>
            <a:r>
              <a:rPr lang="en-US" b="1" dirty="0"/>
              <a:t>AI-generated abstracts</a:t>
            </a:r>
            <a:r>
              <a:rPr lang="en-US" dirty="0"/>
              <a:t>: Produced by multiple language models for each human-written sample.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Total samples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 </a:t>
            </a:r>
            <a:r>
              <a:rPr lang="en-US" dirty="0"/>
              <a:t>41,940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Features used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r>
              <a:rPr lang="en-US" dirty="0" err="1"/>
              <a:t>abstract_text</a:t>
            </a:r>
            <a:r>
              <a:rPr lang="en-US" dirty="0"/>
              <a:t> – Raw abstract text</a:t>
            </a:r>
          </a:p>
          <a:p>
            <a:r>
              <a:rPr lang="en-US" dirty="0" err="1" smtClean="0"/>
              <a:t>generated_by</a:t>
            </a:r>
            <a:r>
              <a:rPr lang="en-US" dirty="0" smtClean="0"/>
              <a:t> </a:t>
            </a:r>
            <a:r>
              <a:rPr lang="en-US" dirty="0"/>
              <a:t>– Human or AI model name</a:t>
            </a:r>
          </a:p>
          <a:p>
            <a:r>
              <a:rPr lang="en-US" dirty="0"/>
              <a:t>label – 1 for human, 0 for AI</a:t>
            </a:r>
          </a:p>
        </p:txBody>
      </p:sp>
    </p:spTree>
    <p:extLst>
      <p:ext uri="{BB962C8B-B14F-4D97-AF65-F5344CB8AC3E}">
        <p14:creationId xmlns:p14="http://schemas.microsoft.com/office/powerpoint/2010/main" val="210017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D18C7-10DF-236A-D068-58EA2FC03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03F48C-4D88-2DE3-A2A4-DA948E19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E4012C-D67C-267F-C2E8-A06C19628D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236267"/>
            <a:ext cx="8676861" cy="4462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3 Digits-to-Characters Ratio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This feature quantifies the proportion of digits relative to the total number of characters in a text. It captures numeric content that may indicate dates, amounts, or structured information. </a:t>
            </a:r>
          </a:p>
          <a:p>
            <a:r>
              <a:rPr lang="en-US" b="1" dirty="0"/>
              <a:t>Feature 26  Number of Commas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The frequency of commas is an indicator of sentence complexity and structure. Longer or more complex sentences tend to have more punctuation marks, which can correlate with certain text classes. </a:t>
            </a:r>
          </a:p>
          <a:p>
            <a:r>
              <a:rPr lang="en-US" b="1" dirty="0"/>
              <a:t>Feature 49  Number of Arabic Particles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Arabic particles  are functional words that indicate relationships between sentence elements. Counting these particles helps the model understand sentence structure and discourse relations.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263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421384-8534-038B-1A7F-07FDF4BB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5F8C6A-9416-7BA0-F7D0-CEA205FD7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A2E83E-FC4C-82C0-E572-CABA2CB227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2529074"/>
            <a:ext cx="8676861" cy="3503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Feature 72 Count of Third-Person Pronouns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Third-person pronouns indicate references to external entities or subjects. Their frequency can provide information about narrative perspective or sentiment targeting.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Feature 95 Polarity Shift Frequency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Polarity shift measures the occurrence of positive and negative sentiment within a sentence. Using predefined sets of positive words and negative words</a:t>
            </a:r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6684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4E1B3-A434-A845-F5C5-71664713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5EB0CD-3BB9-0D50-7A8C-7804F309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Traditional Machine Learning</a:t>
            </a:r>
            <a:endParaRPr lang="en-US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2CFD15B-673F-82DC-ABEF-0F71DAE239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9381" y="3285691"/>
            <a:ext cx="8676861" cy="19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Support Vector Machine (SVM)</a:t>
            </a:r>
            <a:endParaRPr lang="ar-SA" b="1" dirty="0"/>
          </a:p>
          <a:p>
            <a:r>
              <a:rPr lang="en-US" b="1" dirty="0"/>
              <a:t>Random Forest Classifier</a:t>
            </a:r>
            <a:endParaRPr lang="ar-SA" b="1" dirty="0"/>
          </a:p>
          <a:p>
            <a:r>
              <a:rPr lang="en-US" b="1" dirty="0"/>
              <a:t>XGBoost Classifier</a:t>
            </a:r>
            <a:endParaRPr lang="ar-SA" b="1" dirty="0"/>
          </a:p>
          <a:p>
            <a:r>
              <a:rPr lang="en-US" b="1" dirty="0"/>
              <a:t>Logistic Regression (Base Model) </a:t>
            </a:r>
            <a:endParaRPr lang="en-US" dirty="0"/>
          </a:p>
          <a:p>
            <a:pPr marL="0" indent="0"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59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2734E-2BA5-BBE9-4682-070B63861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0AFE259-8817-5BBF-5B46-D0C2A1B74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Traditional Machine Learning</a:t>
            </a: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F4AF5E-106E-B2B9-9FC1-E9A935630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5821689"/>
              </p:ext>
            </p:extLst>
          </p:nvPr>
        </p:nvGraphicFramePr>
        <p:xfrm>
          <a:off x="863600" y="2871019"/>
          <a:ext cx="7002208" cy="21985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50552">
                  <a:extLst>
                    <a:ext uri="{9D8B030D-6E8A-4147-A177-3AD203B41FA5}">
                      <a16:colId xmlns:a16="http://schemas.microsoft.com/office/drawing/2014/main" val="245722664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1091487267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276725562"/>
                    </a:ext>
                  </a:extLst>
                </a:gridCol>
                <a:gridCol w="1750552">
                  <a:extLst>
                    <a:ext uri="{9D8B030D-6E8A-4147-A177-3AD203B41FA5}">
                      <a16:colId xmlns:a16="http://schemas.microsoft.com/office/drawing/2014/main" val="1109045200"/>
                    </a:ext>
                  </a:extLst>
                </a:gridCol>
              </a:tblGrid>
              <a:tr h="249792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Model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Weighted 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Notes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93091548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0.962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0.96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Baseline, lower minority class recall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45949820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SVM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0.98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Balanced across classes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80164076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Best overall performance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6849121"/>
                  </a:ext>
                </a:extLst>
              </a:tr>
              <a:tr h="487190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XGBoost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0.969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Competitive, lower class 1 precision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789335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229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2CBA8-393A-BCE0-C6B2-D5270E42B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A48C88-F727-329D-E868-C2F83969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279" y="1113911"/>
            <a:ext cx="7939442" cy="709865"/>
          </a:xfrm>
        </p:spPr>
        <p:txBody>
          <a:bodyPr/>
          <a:lstStyle/>
          <a:p>
            <a:r>
              <a:rPr lang="en-US" b="1" dirty="0"/>
              <a:t>Deep </a:t>
            </a:r>
            <a:r>
              <a:rPr lang="en-US" b="1" dirty="0" smtClean="0"/>
              <a:t>Learning FFNN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F61AEE-A03F-5818-4366-787512783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1360"/>
              </p:ext>
            </p:extLst>
          </p:nvPr>
        </p:nvGraphicFramePr>
        <p:xfrm>
          <a:off x="863600" y="3634802"/>
          <a:ext cx="5704020" cy="78806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40804">
                  <a:extLst>
                    <a:ext uri="{9D8B030D-6E8A-4147-A177-3AD203B41FA5}">
                      <a16:colId xmlns:a16="http://schemas.microsoft.com/office/drawing/2014/main" val="3604784041"/>
                    </a:ext>
                  </a:extLst>
                </a:gridCol>
                <a:gridCol w="1140804">
                  <a:extLst>
                    <a:ext uri="{9D8B030D-6E8A-4147-A177-3AD203B41FA5}">
                      <a16:colId xmlns:a16="http://schemas.microsoft.com/office/drawing/2014/main" val="2218579946"/>
                    </a:ext>
                  </a:extLst>
                </a:gridCol>
                <a:gridCol w="1140804">
                  <a:extLst>
                    <a:ext uri="{9D8B030D-6E8A-4147-A177-3AD203B41FA5}">
                      <a16:colId xmlns:a16="http://schemas.microsoft.com/office/drawing/2014/main" val="3891393207"/>
                    </a:ext>
                  </a:extLst>
                </a:gridCol>
                <a:gridCol w="1140804">
                  <a:extLst>
                    <a:ext uri="{9D8B030D-6E8A-4147-A177-3AD203B41FA5}">
                      <a16:colId xmlns:a16="http://schemas.microsoft.com/office/drawing/2014/main" val="2164522444"/>
                    </a:ext>
                  </a:extLst>
                </a:gridCol>
                <a:gridCol w="1140804">
                  <a:extLst>
                    <a:ext uri="{9D8B030D-6E8A-4147-A177-3AD203B41FA5}">
                      <a16:colId xmlns:a16="http://schemas.microsoft.com/office/drawing/2014/main" val="4046882483"/>
                    </a:ext>
                  </a:extLst>
                </a:gridCol>
              </a:tblGrid>
              <a:tr h="262581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Class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 smtClean="0">
                          <a:effectLst/>
                        </a:rPr>
                        <a:t>Accuracy</a:t>
                      </a:r>
                      <a:endParaRPr lang="en-US" sz="105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Precision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Recall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F1-score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18164552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 smtClean="0">
                          <a:effectLst/>
                        </a:rPr>
                        <a:t>AI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 smtClean="0">
                          <a:effectLst/>
                        </a:rPr>
                        <a:t>0.87</a:t>
                      </a:r>
                      <a:endParaRPr lang="en-US" sz="105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0.89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0.95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0.92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85954897"/>
                  </a:ext>
                </a:extLst>
              </a:tr>
              <a:tr h="262743"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 smtClean="0">
                          <a:effectLst/>
                          <a:latin typeface="+mj-lt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Human</a:t>
                      </a:r>
                      <a:endParaRPr lang="en-US" sz="1200" dirty="0">
                        <a:effectLst/>
                        <a:latin typeface="+mj-lt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dirty="0" smtClean="0">
                          <a:effectLst/>
                        </a:rPr>
                        <a:t>0.87</a:t>
                      </a:r>
                      <a:endParaRPr lang="en-US" sz="105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0.76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0.57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 rtl="0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0.65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305804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053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23794-7572-C002-4B61-DFCC316C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77EA239-BBB6-D707-5A1F-4F841267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99" y="877428"/>
            <a:ext cx="7939442" cy="709865"/>
          </a:xfrm>
        </p:spPr>
        <p:txBody>
          <a:bodyPr/>
          <a:lstStyle/>
          <a:p>
            <a:r>
              <a:rPr lang="en-US" b="1" dirty="0" smtClean="0"/>
              <a:t>Conclusion</a:t>
            </a: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63C4720-4020-3711-28C4-A35D547DD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7139" y="3236298"/>
            <a:ext cx="8676861" cy="1328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Deep learning performed well for human-written text but underperformed for AI-generated text.</a:t>
            </a:r>
          </a:p>
          <a:p>
            <a:pPr lvl="0"/>
            <a:r>
              <a:rPr lang="en-US" dirty="0"/>
              <a:t>Traditional ML classifiers, particularly Random Forest and SVM, achieved higher overall accuracy and balanced F1-scores.</a:t>
            </a:r>
          </a:p>
        </p:txBody>
      </p:sp>
    </p:spTree>
    <p:extLst>
      <p:ext uri="{BB962C8B-B14F-4D97-AF65-F5344CB8AC3E}">
        <p14:creationId xmlns:p14="http://schemas.microsoft.com/office/powerpoint/2010/main" val="2408957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776</TotalTime>
  <Words>381</Words>
  <Application>Microsoft Office PowerPoint</Application>
  <PresentationFormat>On-screen Show (4:3)</PresentationFormat>
  <Paragraphs>78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Century Gothic</vt:lpstr>
      <vt:lpstr>Wingdings 3</vt:lpstr>
      <vt:lpstr>Ion Boardroom</vt:lpstr>
      <vt:lpstr>PowerPoint Presentation</vt:lpstr>
      <vt:lpstr>Introduction   </vt:lpstr>
      <vt:lpstr>Dataset</vt:lpstr>
      <vt:lpstr>Feature Engineering</vt:lpstr>
      <vt:lpstr>Feature Engineering</vt:lpstr>
      <vt:lpstr>Traditional Machine Learning</vt:lpstr>
      <vt:lpstr>Traditional Machine Learning</vt:lpstr>
      <vt:lpstr>Deep Learning FFNN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Maryam Gaber</dc:creator>
  <cp:keywords/>
  <dc:description>generated using python-pptx</dc:description>
  <cp:lastModifiedBy>Hassan Hashem</cp:lastModifiedBy>
  <cp:revision>19</cp:revision>
  <dcterms:created xsi:type="dcterms:W3CDTF">2013-01-27T09:14:16Z</dcterms:created>
  <dcterms:modified xsi:type="dcterms:W3CDTF">2025-12-16T01:02:48Z</dcterms:modified>
  <cp:category/>
</cp:coreProperties>
</file>