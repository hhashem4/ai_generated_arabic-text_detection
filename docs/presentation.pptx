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61" r:id="rId2"/>
    <p:sldId id="259" r:id="rId3"/>
    <p:sldId id="262" r:id="rId4"/>
    <p:sldId id="263" r:id="rId5"/>
    <p:sldId id="272" r:id="rId6"/>
    <p:sldId id="264" r:id="rId7"/>
    <p:sldId id="273" r:id="rId8"/>
    <p:sldId id="274" r:id="rId9"/>
    <p:sldId id="267" r:id="rId10"/>
    <p:sldId id="265" r:id="rId11"/>
    <p:sldId id="270" r:id="rId12"/>
    <p:sldId id="260" r:id="rId13"/>
    <p:sldId id="27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3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7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7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5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4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2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4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6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1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35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8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77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22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10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80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23276?utm_source=chatgpt.com" TargetMode="External"/><Relationship Id="rId2" Type="http://schemas.openxmlformats.org/officeDocument/2006/relationships/hyperlink" Target="https://aclanthology.org/2025.arabicnlp-sharedtasks.1/?utm_source=chatgpt.co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0500-1E2D-5241-EB24-05EC78980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370" y="2872659"/>
            <a:ext cx="6345260" cy="35306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</a:rPr>
              <a:t>Detection of AI-Generated Arabic Text Using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0030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E27822B-1A81-356A-069E-F93555972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7747" y="3807244"/>
            <a:ext cx="86768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This project focuses on the </a:t>
            </a:r>
            <a:r>
              <a:rPr lang="en-US" b="1" dirty="0"/>
              <a:t>detection of AI-generated Arabic text</a:t>
            </a:r>
            <a:r>
              <a:rPr lang="en-US" dirty="0"/>
              <a:t> using machine learning and deep learning approaches. The goal is to distinguish between human-written and AI-generated abstracts in Arabic.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229C67-22DA-F591-7F7A-2C7C887A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1477704"/>
            <a:ext cx="6343672" cy="709865"/>
          </a:xfrm>
        </p:spPr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8348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B8C2-1381-F3EA-A4B3-80FC729E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E75613C-44D2-49EF-6BEF-6F9A2FE8D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7747" y="2500920"/>
            <a:ext cx="8676861" cy="4165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The dataset combines:</a:t>
            </a:r>
          </a:p>
          <a:p>
            <a:r>
              <a:rPr lang="en-US" b="1" dirty="0"/>
              <a:t>Human-written abstracts</a:t>
            </a:r>
            <a:r>
              <a:rPr lang="en-US" dirty="0"/>
              <a:t>: Extracted directly from a verified source dataset.</a:t>
            </a:r>
          </a:p>
          <a:p>
            <a:r>
              <a:rPr lang="en-US" b="1" dirty="0"/>
              <a:t>AI-generated abstracts</a:t>
            </a:r>
            <a:r>
              <a:rPr lang="en-US" dirty="0"/>
              <a:t>: Produced by multiple language models for each human-written sample.</a:t>
            </a:r>
          </a:p>
          <a:p>
            <a:r>
              <a:rPr lang="en-US" b="1" dirty="0">
                <a:solidFill>
                  <a:srgbClr val="FF0000"/>
                </a:solidFill>
              </a:rPr>
              <a:t>Total samples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41,940</a:t>
            </a:r>
          </a:p>
          <a:p>
            <a:r>
              <a:rPr lang="en-US" b="1" dirty="0">
                <a:solidFill>
                  <a:srgbClr val="FF0000"/>
                </a:solidFill>
              </a:rPr>
              <a:t>Features used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r>
              <a:rPr lang="en-US" dirty="0" err="1"/>
              <a:t>abstract_text</a:t>
            </a:r>
            <a:r>
              <a:rPr lang="en-US" dirty="0"/>
              <a:t> – Raw abstract text</a:t>
            </a:r>
          </a:p>
          <a:p>
            <a:r>
              <a:rPr lang="en-US" dirty="0" err="1"/>
              <a:t>source_split</a:t>
            </a:r>
            <a:r>
              <a:rPr lang="en-US" dirty="0"/>
              <a:t> – Data source identifier</a:t>
            </a:r>
          </a:p>
          <a:p>
            <a:r>
              <a:rPr lang="en-US" dirty="0" err="1"/>
              <a:t>generated_by</a:t>
            </a:r>
            <a:r>
              <a:rPr lang="en-US" dirty="0"/>
              <a:t> – Human or AI model name</a:t>
            </a:r>
          </a:p>
          <a:p>
            <a:r>
              <a:rPr lang="en-US" dirty="0"/>
              <a:t>label – 1 for human, 0 for AI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6C65B-A326-CB53-5300-74D3FECD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71" y="701878"/>
            <a:ext cx="8523837" cy="709865"/>
          </a:xfrm>
        </p:spPr>
        <p:txBody>
          <a:bodyPr/>
          <a:lstStyle/>
          <a:p>
            <a:r>
              <a:rPr lang="en-US" b="1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10017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18C7-10DF-236A-D068-58EA2FC0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CE4012C-D67C-267F-C2E8-A06C19628D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2236267"/>
            <a:ext cx="8676861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Feature 3 Digits-to-Characters Ratio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feature quantifies the proportion of digits relative to the total number of characters in a text. It captures numeric content that may indicate dates, amounts, or structured information. </a:t>
            </a:r>
          </a:p>
          <a:p>
            <a:r>
              <a:rPr lang="en-US" b="1" dirty="0"/>
              <a:t>Feature 26  Number of Commas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frequency of commas is an indicator of sentence complexity and structure. Longer or more complex sentences tend to have more punctuation marks, which can correlate with certain text classes. </a:t>
            </a:r>
          </a:p>
          <a:p>
            <a:r>
              <a:rPr lang="en-US" b="1" dirty="0"/>
              <a:t>Feature 49  Number of Arabic Particles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Arabic particles  are functional words that indicate relationships between sentence elements. Counting these particles helps the model understand sentence structure and discourse relations.</a:t>
            </a:r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03F48C-4D88-2DE3-A2A4-DA948E19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6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21384-8534-038B-1A7F-07FDF4BB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7A2E83E-FC4C-82C0-E572-CABA2CB227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2529074"/>
            <a:ext cx="8676861" cy="350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Feature 72 Count of Third-Person Pronouns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Third-person pronouns indicate references to external entities or subjects. Their frequency can provide information about narrative perspective or sentiment targeting.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Feature 95 Polarity Shift Frequency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Polarity shift measures the occurrence of positive and negative sentiment within a sentence. Using predefined sets of positive words and negative words</a:t>
            </a:r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5F8C6A-9416-7BA0-F7D0-CEA205FD7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68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4E1B3-A434-A845-F5C5-71664713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5EB0CD-3BB9-0D50-7A8C-7804F309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Traditional Machine Learning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125A33-3A91-862F-F9A9-0C8EDF4BF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88544"/>
              </p:ext>
            </p:extLst>
          </p:nvPr>
        </p:nvGraphicFramePr>
        <p:xfrm>
          <a:off x="863600" y="3340100"/>
          <a:ext cx="6346824" cy="1828800"/>
        </p:xfrm>
        <a:graphic>
          <a:graphicData uri="http://schemas.openxmlformats.org/drawingml/2006/table">
            <a:tbl>
              <a:tblPr/>
              <a:tblGrid>
                <a:gridCol w="3173412">
                  <a:extLst>
                    <a:ext uri="{9D8B030D-6E8A-4147-A177-3AD203B41FA5}">
                      <a16:colId xmlns:a16="http://schemas.microsoft.com/office/drawing/2014/main" val="3647355954"/>
                    </a:ext>
                  </a:extLst>
                </a:gridCol>
                <a:gridCol w="3173412">
                  <a:extLst>
                    <a:ext uri="{9D8B030D-6E8A-4147-A177-3AD203B41FA5}">
                      <a16:colId xmlns:a16="http://schemas.microsoft.com/office/drawing/2014/main" val="313883935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Validation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0810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0.9620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753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0.9752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4668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0.9781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72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0.9692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366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05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A825-25CD-C9D6-F0FD-0E64325D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10F052-94AE-A02B-CF11-E32CD129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Deep Learning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BBDE073-5974-AEF0-3F10-9D0BD4E1A8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2944573"/>
            <a:ext cx="8676861" cy="267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Architecture</a:t>
            </a:r>
            <a:r>
              <a:rPr lang="en-US" dirty="0"/>
              <a:t>: Dense neural network with two hidden layers (256 → 128 units), dropout 0.3, sigmoid output</a:t>
            </a:r>
          </a:p>
          <a:p>
            <a:r>
              <a:rPr lang="en-US" b="1" dirty="0"/>
              <a:t>Trainable parameters: </a:t>
            </a:r>
            <a:r>
              <a:rPr lang="en-US" dirty="0"/>
              <a:t>131,585</a:t>
            </a:r>
          </a:p>
          <a:p>
            <a:r>
              <a:rPr lang="en-US" b="1" dirty="0"/>
              <a:t>Optimizer / Loss: </a:t>
            </a:r>
            <a:r>
              <a:rPr lang="en-US" dirty="0"/>
              <a:t>Adam, Binary Cross-Entropy</a:t>
            </a:r>
          </a:p>
          <a:p>
            <a:r>
              <a:rPr lang="en-US" b="1" dirty="0"/>
              <a:t>Epochs: </a:t>
            </a:r>
            <a:r>
              <a:rPr lang="en-US" dirty="0"/>
              <a:t>10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254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CBA8-393A-BCE0-C6B2-D5270E42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A48C88-F727-329D-E868-C2F83969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Deep Learning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218AD4-A274-7DDA-4455-E7CB69A39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768758"/>
              </p:ext>
            </p:extLst>
          </p:nvPr>
        </p:nvGraphicFramePr>
        <p:xfrm>
          <a:off x="863600" y="2762865"/>
          <a:ext cx="6707240" cy="2863236"/>
        </p:xfrm>
        <a:graphic>
          <a:graphicData uri="http://schemas.openxmlformats.org/drawingml/2006/table">
            <a:tbl>
              <a:tblPr/>
              <a:tblGrid>
                <a:gridCol w="1341448">
                  <a:extLst>
                    <a:ext uri="{9D8B030D-6E8A-4147-A177-3AD203B41FA5}">
                      <a16:colId xmlns:a16="http://schemas.microsoft.com/office/drawing/2014/main" val="1916575604"/>
                    </a:ext>
                  </a:extLst>
                </a:gridCol>
                <a:gridCol w="1341448">
                  <a:extLst>
                    <a:ext uri="{9D8B030D-6E8A-4147-A177-3AD203B41FA5}">
                      <a16:colId xmlns:a16="http://schemas.microsoft.com/office/drawing/2014/main" val="2954688274"/>
                    </a:ext>
                  </a:extLst>
                </a:gridCol>
                <a:gridCol w="1341448">
                  <a:extLst>
                    <a:ext uri="{9D8B030D-6E8A-4147-A177-3AD203B41FA5}">
                      <a16:colId xmlns:a16="http://schemas.microsoft.com/office/drawing/2014/main" val="2927459807"/>
                    </a:ext>
                  </a:extLst>
                </a:gridCol>
                <a:gridCol w="1341448">
                  <a:extLst>
                    <a:ext uri="{9D8B030D-6E8A-4147-A177-3AD203B41FA5}">
                      <a16:colId xmlns:a16="http://schemas.microsoft.com/office/drawing/2014/main" val="3784158376"/>
                    </a:ext>
                  </a:extLst>
                </a:gridCol>
                <a:gridCol w="1341448">
                  <a:extLst>
                    <a:ext uri="{9D8B030D-6E8A-4147-A177-3AD203B41FA5}">
                      <a16:colId xmlns:a16="http://schemas.microsoft.com/office/drawing/2014/main" val="3296799758"/>
                    </a:ext>
                  </a:extLst>
                </a:gridCol>
              </a:tblGrid>
              <a:tr h="668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Class 0 (Human)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Class 1 (AI)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Macro 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Weighted 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692097"/>
                  </a:ext>
                </a:extLst>
              </a:tr>
              <a:tr h="38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83744"/>
                  </a:ext>
                </a:extLst>
              </a:tr>
              <a:tr h="38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931678"/>
                  </a:ext>
                </a:extLst>
              </a:tr>
              <a:tr h="38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525777"/>
                  </a:ext>
                </a:extLst>
              </a:tr>
              <a:tr h="38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4978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1313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6291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6291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858059"/>
                  </a:ext>
                </a:extLst>
              </a:tr>
              <a:tr h="668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0.8724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5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53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3794-7572-C002-4B61-DFCC316C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63C4720-4020-3711-28C4-A35D547DD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139" y="3236298"/>
            <a:ext cx="8676861" cy="132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Deep learning performed well for human-written text but underperformed for AI-generated text.</a:t>
            </a:r>
          </a:p>
          <a:p>
            <a:pPr lvl="0"/>
            <a:r>
              <a:rPr lang="en-US" dirty="0"/>
              <a:t>Traditional ML classifiers, particularly Random Forest and SVM, achieved higher overall accuracy and balanced F1-scores.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7EA239-BBB6-D707-5A1F-4F841267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99" y="877428"/>
            <a:ext cx="7939442" cy="709865"/>
          </a:xfrm>
        </p:spPr>
        <p:txBody>
          <a:bodyPr/>
          <a:lstStyle/>
          <a:p>
            <a:r>
              <a:rPr lang="en-US" b="1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240895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A806-E393-A97F-1FE0-1C6F649F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82ABD49-25CE-57E7-78B1-20BC7E6E38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139" y="2459096"/>
            <a:ext cx="8676861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Engineered features combined with Arabic-specific preprocessing enhance AI-text detection performance.</a:t>
            </a:r>
          </a:p>
          <a:p>
            <a:r>
              <a:rPr lang="en-US" dirty="0"/>
              <a:t>Traditional ML models outperform deep learning in this dataset for AI-generated text detection.</a:t>
            </a:r>
          </a:p>
          <a:p>
            <a:r>
              <a:rPr lang="en-US" dirty="0"/>
              <a:t>Features like punctuation counts, particles, pronouns, and polarity shifts provide interpretable insights into text style.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648A5E-73E3-11E3-AC74-89049D477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953485"/>
            <a:ext cx="7939442" cy="709865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707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0E041-39CA-F128-1BE8-E9A9B45C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6B9BAE5-3013-1058-A1C3-D4035ED5E4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139" y="3147575"/>
            <a:ext cx="8676861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Include additional linguistic and syntactic features.</a:t>
            </a:r>
          </a:p>
          <a:p>
            <a:r>
              <a:rPr lang="en-US" dirty="0"/>
              <a:t>Evaluate model generalization across domains and text types.</a:t>
            </a:r>
          </a:p>
          <a:p>
            <a:r>
              <a:rPr lang="en-US" dirty="0"/>
              <a:t>Combine engineered features with transformer embeddings in hybrid models.</a:t>
            </a:r>
          </a:p>
          <a:p>
            <a:r>
              <a:rPr lang="en-US" dirty="0"/>
              <a:t>Extend detection to Arabic dialects and mixed-standard texts.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8A7C33-60C6-3E8E-73F7-6818E269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953485"/>
            <a:ext cx="7939442" cy="709865"/>
          </a:xfrm>
        </p:spPr>
        <p:txBody>
          <a:bodyPr/>
          <a:lstStyle/>
          <a:p>
            <a:r>
              <a:rPr lang="en-US" b="1" dirty="0"/>
              <a:t>Future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0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6F2D-C8BB-B672-741E-B11E2D83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313934" cy="709865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D08B-888D-A738-DED8-2453F59B9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2489200"/>
            <a:ext cx="7851913" cy="35306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Abudalfa</a:t>
            </a:r>
            <a:r>
              <a:rPr lang="en-US" dirty="0"/>
              <a:t>, S., </a:t>
            </a:r>
            <a:r>
              <a:rPr lang="en-US" dirty="0" err="1"/>
              <a:t>Ezzini</a:t>
            </a:r>
            <a:r>
              <a:rPr lang="en-US" dirty="0"/>
              <a:t>, S., Abdelali, A., Alami, H., </a:t>
            </a:r>
            <a:r>
              <a:rPr lang="en-US" dirty="0" err="1"/>
              <a:t>Benlahbib</a:t>
            </a:r>
            <a:r>
              <a:rPr lang="en-US" dirty="0"/>
              <a:t>, A., Chafik, S., … Luqman, H. (2025). </a:t>
            </a:r>
            <a:r>
              <a:rPr lang="en-US" i="1" dirty="0"/>
              <a:t>The </a:t>
            </a:r>
            <a:r>
              <a:rPr lang="en-US" i="1" dirty="0" err="1"/>
              <a:t>AraGenEval</a:t>
            </a:r>
            <a:r>
              <a:rPr lang="en-US" i="1" dirty="0"/>
              <a:t> Shared Task on Arabic Authorship Style Transfer and AI Generated Text Detection</a:t>
            </a:r>
            <a:r>
              <a:rPr lang="en-US" dirty="0"/>
              <a:t>. In </a:t>
            </a:r>
            <a:r>
              <a:rPr lang="en-US" i="1" dirty="0"/>
              <a:t>Proceedings of The Third Arabic Natural Language Processing Conference: Shared Tasks</a:t>
            </a:r>
            <a:r>
              <a:rPr lang="en-US" dirty="0"/>
              <a:t> (pp. 1–13). Association for Computational Linguistics. </a:t>
            </a:r>
            <a:r>
              <a:rPr lang="en-US" u="sng" dirty="0">
                <a:hlinkClick r:id="rId2"/>
              </a:rPr>
              <a:t>https://aclanthology.org/2025.arabicnlp-sharedtasks.1/?utm_source=chatgpt.com</a:t>
            </a:r>
            <a:endParaRPr lang="en-US" dirty="0"/>
          </a:p>
          <a:p>
            <a:r>
              <a:rPr lang="en-US" dirty="0"/>
              <a:t>Alghamdi, N. S., &amp; </a:t>
            </a:r>
            <a:r>
              <a:rPr lang="en-US" dirty="0" err="1"/>
              <a:t>Alowibdi</a:t>
            </a:r>
            <a:r>
              <a:rPr lang="en-US" dirty="0"/>
              <a:t>, J. S. (2024). Distinguishing Arabic GenAI-generated Tweets and Human Tweets utilizing Machine Learning. </a:t>
            </a:r>
            <a:r>
              <a:rPr lang="en-US" i="1" dirty="0"/>
              <a:t>Engineering, Technology &amp; Applied Science Research, 14</a:t>
            </a:r>
            <a:r>
              <a:rPr lang="en-US" dirty="0"/>
              <a:t>(5), 16720–16726. https://doi.org/10.48084/etasr.8249</a:t>
            </a:r>
          </a:p>
          <a:p>
            <a:r>
              <a:rPr lang="en-US" dirty="0"/>
              <a:t>Alshammari, H., &amp; El-Sayed, A. (2023). </a:t>
            </a:r>
            <a:r>
              <a:rPr lang="en-US" i="1" dirty="0"/>
              <a:t>AIRABIC: A Benchmark Corpus for Arabic AI-Generated Text Detection</a:t>
            </a:r>
            <a:r>
              <a:rPr lang="en-US" dirty="0"/>
              <a:t>. [Dataset / Paper]</a:t>
            </a:r>
          </a:p>
          <a:p>
            <a:r>
              <a:rPr lang="en-US" dirty="0"/>
              <a:t>Alshammari, H., El-Sayed, A., &amp; </a:t>
            </a:r>
            <a:r>
              <a:rPr lang="en-US" dirty="0" err="1"/>
              <a:t>Elleithy</a:t>
            </a:r>
            <a:r>
              <a:rPr lang="en-US" dirty="0"/>
              <a:t>, K. (2024). AI-Generated Text Detector for Arabic Language Using Encoder-Based Transformer Architecture. </a:t>
            </a:r>
            <a:r>
              <a:rPr lang="en-US" i="1" dirty="0"/>
              <a:t>Big Data and Cognitive Computing, 8</a:t>
            </a:r>
            <a:r>
              <a:rPr lang="en-US" dirty="0"/>
              <a:t>(3), 32. https://doi.org/10.3390/bdcc8030032</a:t>
            </a:r>
          </a:p>
          <a:p>
            <a:r>
              <a:rPr lang="en-US" dirty="0"/>
              <a:t>Al-Shaibani, M. S., &amp; Ahmed, M. (2025). </a:t>
            </a:r>
            <a:r>
              <a:rPr lang="en-US" i="1" dirty="0"/>
              <a:t>The Arabic AI Fingerprint: Stylometric Analysis and Detection of Large Language Models Text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. </a:t>
            </a:r>
            <a:r>
              <a:rPr lang="en-US" u="sng" dirty="0">
                <a:hlinkClick r:id="rId3"/>
              </a:rPr>
              <a:t>https://arxiv.org/abs/2505.23276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976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C4AE-9905-0638-EEC0-0391E04D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5467-7A48-A509-99B9-1EF2CA81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313934" cy="709865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C8E07-5ACB-16FF-8D2F-70B3BCCCC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2489200"/>
            <a:ext cx="7851913" cy="3530600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Antoun</a:t>
            </a:r>
            <a:r>
              <a:rPr lang="en-US" dirty="0"/>
              <a:t>, W., Baly, F., &amp; Hajj, H. (2020). </a:t>
            </a:r>
            <a:r>
              <a:rPr lang="en-US" i="1" dirty="0"/>
              <a:t>AraBERT: Transformer-based Model for Arabic Language Understanding</a:t>
            </a:r>
            <a:r>
              <a:rPr lang="en-US" dirty="0"/>
              <a:t>. [Conference/Journal Paper]</a:t>
            </a:r>
          </a:p>
          <a:p>
            <a:r>
              <a:rPr lang="en-US" dirty="0"/>
              <a:t>Brown, T., Mann, B., Ryder, N., Subbiah, M., Kaplan, J., Dhariwal, P., … Amodei, D. (2020). Language models are few-shot learners. </a:t>
            </a:r>
            <a:r>
              <a:rPr lang="en-US" i="1" dirty="0"/>
              <a:t>Advances in Neural Information Processing Systems, 33</a:t>
            </a:r>
            <a:r>
              <a:rPr lang="en-US" dirty="0"/>
              <a:t>, 1877–1901.</a:t>
            </a:r>
          </a:p>
          <a:p>
            <a:r>
              <a:rPr lang="en-US" dirty="0" err="1"/>
              <a:t>Conneau</a:t>
            </a:r>
            <a:r>
              <a:rPr lang="en-US" dirty="0"/>
              <a:t>, A., Khandelwal, K., Goyal, N., Chaudhary, V., Wenzek, G., Guzmán, F., … Stoyanov, V. (2020). Unsupervised cross-lingual representation learning at scale. </a:t>
            </a:r>
            <a:r>
              <a:rPr lang="en-US" i="1" dirty="0"/>
              <a:t>Proceedings of ACL</a:t>
            </a:r>
            <a:r>
              <a:rPr lang="en-US" dirty="0"/>
              <a:t>, 8440–8451.</a:t>
            </a:r>
          </a:p>
          <a:p>
            <a:r>
              <a:rPr lang="en-US" dirty="0"/>
              <a:t>Devlin, J., Chang, M.-W., Lee, K., &amp; Toutanova, K. (2019). BERT: Pre-training of deep bidirectional transformers for language understanding. </a:t>
            </a:r>
            <a:r>
              <a:rPr lang="en-US" i="1" dirty="0"/>
              <a:t>NAACL-HLT</a:t>
            </a:r>
            <a:r>
              <a:rPr lang="en-US" dirty="0"/>
              <a:t>, 4171–4186.</a:t>
            </a:r>
          </a:p>
          <a:p>
            <a:r>
              <a:rPr lang="en-US" dirty="0"/>
              <a:t>Dong, W., Zhang, L., &amp; Yang, J. (2020). Ensemble learning for text classification: A review. </a:t>
            </a:r>
            <a:r>
              <a:rPr lang="en-US" i="1" dirty="0"/>
              <a:t>IEEE Access, 8</a:t>
            </a:r>
            <a:r>
              <a:rPr lang="en-US" dirty="0"/>
              <a:t>, 209050–209064.</a:t>
            </a:r>
          </a:p>
          <a:p>
            <a:r>
              <a:rPr lang="en-US" dirty="0"/>
              <a:t>El </a:t>
            </a:r>
            <a:r>
              <a:rPr lang="en-US" dirty="0" err="1"/>
              <a:t>Mahdaouy</a:t>
            </a:r>
            <a:r>
              <a:rPr lang="en-US" dirty="0"/>
              <a:t>, A., … (2025). LMSA ensemble-based model for Arabic AI-generated text detection. </a:t>
            </a:r>
            <a:r>
              <a:rPr lang="en-US" i="1" dirty="0" err="1"/>
              <a:t>AraGenEval</a:t>
            </a:r>
            <a:r>
              <a:rPr lang="en-US" i="1" dirty="0"/>
              <a:t> Shared Task Report</a:t>
            </a:r>
            <a:r>
              <a:rPr lang="en-US" dirty="0"/>
              <a:t>.</a:t>
            </a:r>
          </a:p>
          <a:p>
            <a:r>
              <a:rPr lang="en-US" dirty="0"/>
              <a:t>Guellil, I., </a:t>
            </a:r>
            <a:r>
              <a:rPr lang="en-US" dirty="0" err="1"/>
              <a:t>Azouaou</a:t>
            </a:r>
            <a:r>
              <a:rPr lang="en-US" dirty="0"/>
              <a:t>, F., &amp; </a:t>
            </a:r>
            <a:r>
              <a:rPr lang="en-US" dirty="0" err="1"/>
              <a:t>Azouaou</a:t>
            </a:r>
            <a:r>
              <a:rPr lang="en-US" dirty="0"/>
              <a:t>, D. (2021). Arabic natural language processing: Challenges and opportunities. </a:t>
            </a:r>
            <a:r>
              <a:rPr lang="en-US" i="1" dirty="0"/>
              <a:t>Journal of King Saud University – Computer and Information Sciences, 33</a:t>
            </a:r>
            <a:r>
              <a:rPr lang="en-US" dirty="0"/>
              <a:t>(1), 1–15.</a:t>
            </a:r>
          </a:p>
        </p:txBody>
      </p:sp>
    </p:spTree>
    <p:extLst>
      <p:ext uri="{BB962C8B-B14F-4D97-AF65-F5344CB8AC3E}">
        <p14:creationId xmlns:p14="http://schemas.microsoft.com/office/powerpoint/2010/main" val="29653190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161</TotalTime>
  <Words>995</Words>
  <Application>Microsoft Office PowerPoint</Application>
  <PresentationFormat>On-screen Show (4:3)</PresentationFormat>
  <Paragraphs>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PowerPoint Presentation</vt:lpstr>
      <vt:lpstr>Introduction   </vt:lpstr>
      <vt:lpstr>Dataset</vt:lpstr>
      <vt:lpstr>Feature Engineering</vt:lpstr>
      <vt:lpstr>Feature Engineering</vt:lpstr>
      <vt:lpstr>Traditional Machine Learning</vt:lpstr>
      <vt:lpstr>Deep Learning</vt:lpstr>
      <vt:lpstr>Deep Learning</vt:lpstr>
      <vt:lpstr>Discussion</vt:lpstr>
      <vt:lpstr>Conclusion</vt:lpstr>
      <vt:lpstr>Future Work</vt:lpstr>
      <vt:lpstr>References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Maryam Gaber</dc:creator>
  <cp:keywords/>
  <dc:description>generated using python-pptx</dc:description>
  <cp:lastModifiedBy>Maryam Gaber</cp:lastModifiedBy>
  <cp:revision>7</cp:revision>
  <dcterms:created xsi:type="dcterms:W3CDTF">2013-01-27T09:14:16Z</dcterms:created>
  <dcterms:modified xsi:type="dcterms:W3CDTF">2025-11-29T04:53:02Z</dcterms:modified>
  <cp:category/>
</cp:coreProperties>
</file>